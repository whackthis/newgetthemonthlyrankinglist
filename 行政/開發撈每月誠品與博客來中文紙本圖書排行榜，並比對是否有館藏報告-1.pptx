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4" d="100"/>
          <a:sy n="154" d="100"/>
        </p:scale>
        <p:origin x="2000"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1F29C5-86B1-4186-AFFD-394786D116F1}"/>
              </a:ext>
            </a:extLst>
          </p:cNvPr>
          <p:cNvSpPr>
            <a:spLocks noGrp="1"/>
          </p:cNvSpPr>
          <p:nvPr>
            <p:ph type="ctrTitle"/>
          </p:nvPr>
        </p:nvSpPr>
        <p:spPr>
          <a:xfrm>
            <a:off x="1143000" y="1122363"/>
            <a:ext cx="6858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06899F0-E83F-4405-B162-09B9D892136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78E5606-0352-4A65-A6C2-B00C728891C2}"/>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5" name="頁尾版面配置區 4">
            <a:extLst>
              <a:ext uri="{FF2B5EF4-FFF2-40B4-BE49-F238E27FC236}">
                <a16:creationId xmlns:a16="http://schemas.microsoft.com/office/drawing/2014/main" id="{A942AA32-B061-407A-AA69-2921D31630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EB7D6F2-4DBE-4DB1-9A9E-1F654AE70EDA}"/>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4215466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BB2473-5844-41E5-A2F7-D892DFA38E1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C555595-CD01-4F97-903D-58B5771E770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7D8CF04-5C88-4DDD-B878-CD4C6F799D51}"/>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5" name="頁尾版面配置區 4">
            <a:extLst>
              <a:ext uri="{FF2B5EF4-FFF2-40B4-BE49-F238E27FC236}">
                <a16:creationId xmlns:a16="http://schemas.microsoft.com/office/drawing/2014/main" id="{EB0D4E0C-65F1-4009-9736-1F93620A05D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56120B-24DB-4542-8FD9-BEEA77CF5CE3}"/>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3815021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043CFF-5F53-4C4A-B38D-E5C261AEFCD3}"/>
              </a:ext>
            </a:extLst>
          </p:cNvPr>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2C2CB8D-DC9C-45D2-A477-6217992164B2}"/>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C023895-CA91-4DF0-ACC7-7D12FEEEB584}"/>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5" name="頁尾版面配置區 4">
            <a:extLst>
              <a:ext uri="{FF2B5EF4-FFF2-40B4-BE49-F238E27FC236}">
                <a16:creationId xmlns:a16="http://schemas.microsoft.com/office/drawing/2014/main" id="{C420F245-B2EE-4449-8BD1-CCA23A221CF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8FF64E9-79C1-4616-81BE-BC76784B845B}"/>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79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C8F756-40ED-410B-9E9B-C8E744D0DEA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E85A52C-F404-4B66-904A-918D7256A4D7}"/>
              </a:ext>
            </a:extLst>
          </p:cNvPr>
          <p:cNvSpPr>
            <a:spLocks noGrp="1"/>
          </p:cNvSpPr>
          <p:nvPr>
            <p:ph sz="half" idx="1"/>
          </p:nvPr>
        </p:nvSpPr>
        <p:spPr>
          <a:xfrm>
            <a:off x="6286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73F66D0-F66A-4D4E-AE10-14BC71D4EB0C}"/>
              </a:ext>
            </a:extLst>
          </p:cNvPr>
          <p:cNvSpPr>
            <a:spLocks noGrp="1"/>
          </p:cNvSpPr>
          <p:nvPr>
            <p:ph sz="half" idx="2"/>
          </p:nvPr>
        </p:nvSpPr>
        <p:spPr>
          <a:xfrm>
            <a:off x="46291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6A07F28-3654-496A-959C-B68E518C2591}"/>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6" name="頁尾版面配置區 5">
            <a:extLst>
              <a:ext uri="{FF2B5EF4-FFF2-40B4-BE49-F238E27FC236}">
                <a16:creationId xmlns:a16="http://schemas.microsoft.com/office/drawing/2014/main" id="{9526F230-718E-43C7-BDDB-32AA223EB11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72AC6F0-C2D4-4D86-9369-80DCF0642B55}"/>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1697918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0125F-5CA2-4F5F-B808-5819F482CB26}"/>
              </a:ext>
            </a:extLst>
          </p:cNvPr>
          <p:cNvSpPr>
            <a:spLocks noGrp="1"/>
          </p:cNvSpPr>
          <p:nvPr>
            <p:ph type="title"/>
          </p:nvPr>
        </p:nvSpPr>
        <p:spPr>
          <a:xfrm>
            <a:off x="629841" y="365126"/>
            <a:ext cx="78867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3415584-BEC8-4F3F-925D-24FF2AC7BF12}"/>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6047E8F-0C5B-4161-8C42-96AF106CAE04}"/>
              </a:ext>
            </a:extLst>
          </p:cNvPr>
          <p:cNvSpPr>
            <a:spLocks noGrp="1"/>
          </p:cNvSpPr>
          <p:nvPr>
            <p:ph sz="half" idx="2"/>
          </p:nvPr>
        </p:nvSpPr>
        <p:spPr>
          <a:xfrm>
            <a:off x="629842" y="2505075"/>
            <a:ext cx="386834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B18B385-0304-4366-9280-67F883F6AE4F}"/>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0D0A64B9-A837-46C0-8148-23C43F5FD0DC}"/>
              </a:ext>
            </a:extLst>
          </p:cNvPr>
          <p:cNvSpPr>
            <a:spLocks noGrp="1"/>
          </p:cNvSpPr>
          <p:nvPr>
            <p:ph sz="quarter" idx="4"/>
          </p:nvPr>
        </p:nvSpPr>
        <p:spPr>
          <a:xfrm>
            <a:off x="4629150" y="2505075"/>
            <a:ext cx="3887391"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C56F8A3-060C-45F9-B1C1-574D675A9D94}"/>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8" name="頁尾版面配置區 7">
            <a:extLst>
              <a:ext uri="{FF2B5EF4-FFF2-40B4-BE49-F238E27FC236}">
                <a16:creationId xmlns:a16="http://schemas.microsoft.com/office/drawing/2014/main" id="{B3B386CA-995D-401F-907E-50C4B6175B3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2FFCB90-47E4-498D-8221-BFF3B6D06C11}"/>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707964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3897BA-835E-41BF-A9C3-DBE19188DFE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86CEEC-D3E4-43C6-B898-380B5430D3A5}"/>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4" name="頁尾版面配置區 3">
            <a:extLst>
              <a:ext uri="{FF2B5EF4-FFF2-40B4-BE49-F238E27FC236}">
                <a16:creationId xmlns:a16="http://schemas.microsoft.com/office/drawing/2014/main" id="{2F2374BC-46BC-492F-B64A-D32FA06A0FE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95D4041-CDD6-47B0-A6C9-0B00932077B5}"/>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577960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CB71ADA-874D-4953-9D78-203EBB01175A}"/>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3" name="頁尾版面配置區 2">
            <a:extLst>
              <a:ext uri="{FF2B5EF4-FFF2-40B4-BE49-F238E27FC236}">
                <a16:creationId xmlns:a16="http://schemas.microsoft.com/office/drawing/2014/main" id="{F6E0AF32-8029-455A-B496-14E23291A8C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F34FA35-50E2-46F4-B7EF-0C4187B0833E}"/>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3453966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117045-CBD3-41F6-AA08-2C1C8E7D2548}"/>
              </a:ext>
            </a:extLst>
          </p:cNvPr>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939C178-0F12-4E5E-A54B-55EA3225274A}"/>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381FE48E-8113-4277-B64A-E146F94B08D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E358587-4446-4470-B313-612A31CAF31F}"/>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6" name="頁尾版面配置區 5">
            <a:extLst>
              <a:ext uri="{FF2B5EF4-FFF2-40B4-BE49-F238E27FC236}">
                <a16:creationId xmlns:a16="http://schemas.microsoft.com/office/drawing/2014/main" id="{85FA7DAC-BEDE-4147-940B-EC87895F69E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4964E00-4D4F-4DE2-92F2-4C96FE167967}"/>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402924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570F57-88CA-4F0A-BB0C-61D4D31A42B4}"/>
              </a:ext>
            </a:extLst>
          </p:cNvPr>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DE23A1D-2A32-42D1-A624-2516BE9BCA63}"/>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2BB7B1B-5BF9-4371-99C5-D8DD63076C5C}"/>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DE2ACA-00C7-4F6B-939F-D38228C6F58E}"/>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6" name="頁尾版面配置區 5">
            <a:extLst>
              <a:ext uri="{FF2B5EF4-FFF2-40B4-BE49-F238E27FC236}">
                <a16:creationId xmlns:a16="http://schemas.microsoft.com/office/drawing/2014/main" id="{EB09198C-87FF-4B72-B92E-4F719787190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FCC6736-8120-4995-B8D7-17A888365CD9}"/>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3162766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31154B-151D-4C6D-B26D-F12ACE33445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9C08DF4-1A98-40D3-A559-D7D416C2123B}"/>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A8257A7-48DE-4639-8B07-6D1F80D090B5}"/>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5" name="頁尾版面配置區 4">
            <a:extLst>
              <a:ext uri="{FF2B5EF4-FFF2-40B4-BE49-F238E27FC236}">
                <a16:creationId xmlns:a16="http://schemas.microsoft.com/office/drawing/2014/main" id="{AFA6D875-48FE-4D7C-A788-CD67BBE86A6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6C59E1-684C-40EF-AFA1-40115D30AF78}"/>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3303189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86AF357-3362-4DE1-9EA3-813DAE475C2D}"/>
              </a:ext>
            </a:extLst>
          </p:cNvPr>
          <p:cNvSpPr>
            <a:spLocks noGrp="1"/>
          </p:cNvSpPr>
          <p:nvPr>
            <p:ph type="title" orient="vert"/>
          </p:nvPr>
        </p:nvSpPr>
        <p:spPr>
          <a:xfrm>
            <a:off x="6543675" y="365125"/>
            <a:ext cx="1971675"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974111E-AB0D-4F90-AAE9-CB17E3DF2397}"/>
              </a:ext>
            </a:extLst>
          </p:cNvPr>
          <p:cNvSpPr>
            <a:spLocks noGrp="1"/>
          </p:cNvSpPr>
          <p:nvPr>
            <p:ph type="body" orient="vert" idx="1"/>
          </p:nvPr>
        </p:nvSpPr>
        <p:spPr>
          <a:xfrm>
            <a:off x="628650" y="365125"/>
            <a:ext cx="5800725"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C9E1A0C-AAD6-4EA1-9CC4-399EA1D88BA4}"/>
              </a:ext>
            </a:extLst>
          </p:cNvPr>
          <p:cNvSpPr>
            <a:spLocks noGrp="1"/>
          </p:cNvSpPr>
          <p:nvPr>
            <p:ph type="dt" sz="half" idx="10"/>
          </p:nvPr>
        </p:nvSpPr>
        <p:spPr/>
        <p:txBody>
          <a:bodyPr/>
          <a:lstStyle/>
          <a:p>
            <a:fld id="{5C428093-9BE7-43C1-816A-F39A40C11D36}" type="datetimeFigureOut">
              <a:rPr lang="zh-TW" altLang="en-US" smtClean="0"/>
              <a:t>2026/3/11</a:t>
            </a:fld>
            <a:endParaRPr lang="zh-TW" altLang="en-US"/>
          </a:p>
        </p:txBody>
      </p:sp>
      <p:sp>
        <p:nvSpPr>
          <p:cNvPr id="5" name="頁尾版面配置區 4">
            <a:extLst>
              <a:ext uri="{FF2B5EF4-FFF2-40B4-BE49-F238E27FC236}">
                <a16:creationId xmlns:a16="http://schemas.microsoft.com/office/drawing/2014/main" id="{93A26ED8-80F0-40B0-89FF-B6DF3F6584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F64A450-D82E-45CF-8068-BD635EF82946}"/>
              </a:ext>
            </a:extLst>
          </p:cNvPr>
          <p:cNvSpPr>
            <a:spLocks noGrp="1"/>
          </p:cNvSpPr>
          <p:nvPr>
            <p:ph type="sldNum" sz="quarter" idx="12"/>
          </p:nvPr>
        </p:nvSpPr>
        <p:spPr/>
        <p:txBody>
          <a:body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2180755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2E89BF3-C9A0-40F1-ADA4-A3A2F62EE42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6194579-DDBD-4700-A7BF-9557E5C0BD1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2F01E4A-7B26-47C1-AEEE-177F9BBC3F3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428093-9BE7-43C1-816A-F39A40C11D36}" type="datetimeFigureOut">
              <a:rPr lang="zh-TW" altLang="en-US" smtClean="0"/>
              <a:t>2026/3/11</a:t>
            </a:fld>
            <a:endParaRPr lang="zh-TW" altLang="en-US"/>
          </a:p>
        </p:txBody>
      </p:sp>
      <p:sp>
        <p:nvSpPr>
          <p:cNvPr id="5" name="頁尾版面配置區 4">
            <a:extLst>
              <a:ext uri="{FF2B5EF4-FFF2-40B4-BE49-F238E27FC236}">
                <a16:creationId xmlns:a16="http://schemas.microsoft.com/office/drawing/2014/main" id="{3CAC083B-C3F8-43A0-955E-6A188F83AD3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60C905C8-F601-431B-B6AB-9C17D588C47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99D5CA-BE9E-4B2A-82A7-BF9578A87C90}" type="slidenum">
              <a:rPr lang="zh-TW" altLang="en-US" smtClean="0"/>
              <a:t>‹#›</a:t>
            </a:fld>
            <a:endParaRPr lang="zh-TW" altLang="en-US"/>
          </a:p>
        </p:txBody>
      </p:sp>
    </p:spTree>
    <p:extLst>
      <p:ext uri="{BB962C8B-B14F-4D97-AF65-F5344CB8AC3E}">
        <p14:creationId xmlns:p14="http://schemas.microsoft.com/office/powerpoint/2010/main" val="960418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slite.com/best-sellers/online/3?type=2" TargetMode="External"/><Relationship Id="rId2" Type="http://schemas.openxmlformats.org/officeDocument/2006/relationships/hyperlink" Target="https://www.books.com.tw/web/sys_saletopb/books/?attribute=3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7D958-F877-4AE0-ACB9-A2D963225280}"/>
              </a:ext>
            </a:extLst>
          </p:cNvPr>
          <p:cNvSpPr>
            <a:spLocks noGrp="1"/>
          </p:cNvSpPr>
          <p:nvPr>
            <p:ph type="ctrTitle"/>
          </p:nvPr>
        </p:nvSpPr>
        <p:spPr/>
        <p:txBody>
          <a:bodyPr>
            <a:normAutofit/>
          </a:bodyPr>
          <a:lstStyle/>
          <a:p>
            <a:r>
              <a:rPr lang="zh-TW" altLang="en-US" sz="4800" b="1" dirty="0">
                <a:latin typeface="標楷體" panose="03000509000000000000" pitchFamily="65" charset="-120"/>
                <a:ea typeface="標楷體" panose="03000509000000000000" pitchFamily="65" charset="-120"/>
              </a:rPr>
              <a:t>開發撈每月誠品與博客來中文紙本圖書排行榜並比對是否有館藏報告</a:t>
            </a:r>
          </a:p>
        </p:txBody>
      </p:sp>
      <p:sp>
        <p:nvSpPr>
          <p:cNvPr id="3" name="副標題 2">
            <a:extLst>
              <a:ext uri="{FF2B5EF4-FFF2-40B4-BE49-F238E27FC236}">
                <a16:creationId xmlns:a16="http://schemas.microsoft.com/office/drawing/2014/main" id="{1EEDD015-4E60-4767-96D7-6A5F758A40A0}"/>
              </a:ext>
            </a:extLst>
          </p:cNvPr>
          <p:cNvSpPr>
            <a:spLocks noGrp="1"/>
          </p:cNvSpPr>
          <p:nvPr>
            <p:ph type="subTitle" idx="1"/>
          </p:nvPr>
        </p:nvSpPr>
        <p:spPr/>
        <p:txBody>
          <a:bodyPr/>
          <a:lstStyle/>
          <a:p>
            <a:r>
              <a:rPr lang="zh-CN" altLang="en-US" dirty="0">
                <a:latin typeface="標楷體" panose="03000509000000000000" pitchFamily="65" charset="-120"/>
                <a:ea typeface="標楷體" panose="03000509000000000000" pitchFamily="65" charset="-120"/>
              </a:rPr>
              <a:t>報告人：劉柏凱</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294148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37CD6B-AF31-4F8D-93F8-87B5EDACB761}"/>
              </a:ext>
            </a:extLst>
          </p:cNvPr>
          <p:cNvSpPr>
            <a:spLocks noGrp="1"/>
          </p:cNvSpPr>
          <p:nvPr>
            <p:ph type="title"/>
          </p:nvPr>
        </p:nvSpPr>
        <p:spPr/>
        <p:txBody>
          <a:bodyPr>
            <a:normAutofit/>
          </a:bodyPr>
          <a:lstStyle/>
          <a:p>
            <a:r>
              <a:rPr lang="zh-CN" altLang="en-US" sz="4800" dirty="0">
                <a:latin typeface="標楷體" panose="03000509000000000000" pitchFamily="65" charset="-120"/>
                <a:ea typeface="標楷體" panose="03000509000000000000" pitchFamily="65" charset="-120"/>
              </a:rPr>
              <a:t>流程</a:t>
            </a:r>
            <a:endParaRPr lang="zh-TW" altLang="en-US" sz="4800" dirty="0">
              <a:latin typeface="標楷體" panose="03000509000000000000" pitchFamily="65" charset="-120"/>
              <a:ea typeface="標楷體" panose="03000509000000000000" pitchFamily="65" charset="-120"/>
            </a:endParaRPr>
          </a:p>
        </p:txBody>
      </p:sp>
      <p:sp>
        <p:nvSpPr>
          <p:cNvPr id="3" name="內容版面配置區 2">
            <a:extLst>
              <a:ext uri="{FF2B5EF4-FFF2-40B4-BE49-F238E27FC236}">
                <a16:creationId xmlns:a16="http://schemas.microsoft.com/office/drawing/2014/main" id="{2BE338DA-7EC8-420B-AEC9-6C71B787D096}"/>
              </a:ext>
            </a:extLst>
          </p:cNvPr>
          <p:cNvSpPr>
            <a:spLocks noGrp="1"/>
          </p:cNvSpPr>
          <p:nvPr>
            <p:ph idx="1"/>
          </p:nvPr>
        </p:nvSpPr>
        <p:spPr/>
        <p:txBody>
          <a:bodyPr>
            <a:normAutofit fontScale="92500" lnSpcReduction="10000"/>
          </a:bodyPr>
          <a:lstStyle/>
          <a:p>
            <a:r>
              <a:rPr lang="en-US" altLang="zh-CN" sz="2400" dirty="0">
                <a:latin typeface="標楷體" panose="03000509000000000000" pitchFamily="65" charset="-120"/>
                <a:ea typeface="標楷體" panose="03000509000000000000" pitchFamily="65" charset="-120"/>
              </a:rPr>
              <a:t>Step1</a:t>
            </a:r>
            <a:r>
              <a:rPr lang="zh-CN" altLang="en-US" sz="2400" dirty="0">
                <a:latin typeface="標楷體" panose="03000509000000000000" pitchFamily="65" charset="-120"/>
                <a:ea typeface="標楷體" panose="03000509000000000000" pitchFamily="65" charset="-120"/>
              </a:rPr>
              <a:t>：確認網址</a:t>
            </a:r>
            <a:endParaRPr lang="en-US" altLang="zh-CN" sz="24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博客來</a:t>
            </a:r>
            <a:endParaRPr lang="en-US" altLang="zh-CN" sz="2000" dirty="0">
              <a:latin typeface="標楷體" panose="03000509000000000000" pitchFamily="65" charset="-120"/>
              <a:ea typeface="標楷體" panose="03000509000000000000" pitchFamily="65" charset="-120"/>
            </a:endParaRPr>
          </a:p>
          <a:p>
            <a:pPr lvl="2"/>
            <a:r>
              <a:rPr lang="zh-CN" altLang="en-US" sz="1800" dirty="0">
                <a:latin typeface="標楷體" panose="03000509000000000000" pitchFamily="65" charset="-120"/>
                <a:ea typeface="標楷體" panose="03000509000000000000" pitchFamily="65" charset="-120"/>
              </a:rPr>
              <a:t>月榜：</a:t>
            </a:r>
            <a:r>
              <a:rPr lang="en-US" altLang="zh-TW" sz="1600" u="sng" kern="100" dirty="0">
                <a:solidFill>
                  <a:srgbClr val="000000"/>
                </a:solidFill>
                <a:effectLst/>
                <a:latin typeface="標楷體" panose="03000509000000000000" pitchFamily="65" charset="-120"/>
                <a:ea typeface="標楷體" panose="03000509000000000000" pitchFamily="65" charset="-120"/>
                <a:cs typeface="Times New Roman" panose="02020603050405020304" pitchFamily="18" charset="0"/>
                <a:hlinkClick r:id="rId2"/>
              </a:rPr>
              <a:t>https://www.books.com.tw/web/sys_saletopb/books/?attribute=30</a:t>
            </a:r>
            <a:endParaRPr lang="zh-TW" altLang="zh-TW" sz="1600" kern="100" dirty="0">
              <a:solidFill>
                <a:srgbClr val="000000"/>
              </a:solidFill>
              <a:effectLst/>
              <a:latin typeface="標楷體" panose="03000509000000000000" pitchFamily="65" charset="-120"/>
              <a:ea typeface="標楷體" panose="03000509000000000000" pitchFamily="65" charset="-120"/>
              <a:cs typeface="Times New Roman" panose="02020603050405020304" pitchFamily="18" charset="0"/>
            </a:endParaRPr>
          </a:p>
          <a:p>
            <a:pPr lvl="2"/>
            <a:endParaRPr lang="en-US" altLang="zh-CN" sz="18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誠品</a:t>
            </a:r>
            <a:endParaRPr lang="en-US" altLang="zh-CN" sz="2000" dirty="0">
              <a:latin typeface="標楷體" panose="03000509000000000000" pitchFamily="65" charset="-120"/>
              <a:ea typeface="標楷體" panose="03000509000000000000" pitchFamily="65" charset="-120"/>
            </a:endParaRPr>
          </a:p>
          <a:p>
            <a:pPr lvl="2"/>
            <a:r>
              <a:rPr lang="zh-CN" altLang="en-US" sz="1800" dirty="0">
                <a:latin typeface="標楷體" panose="03000509000000000000" pitchFamily="65" charset="-120"/>
                <a:ea typeface="標楷體" panose="03000509000000000000" pitchFamily="65" charset="-120"/>
              </a:rPr>
              <a:t>月榜：</a:t>
            </a:r>
            <a:r>
              <a:rPr lang="en-US" altLang="zh-CN" sz="1800" dirty="0">
                <a:latin typeface="標楷體" panose="03000509000000000000" pitchFamily="65" charset="-120"/>
                <a:ea typeface="標楷體" panose="03000509000000000000" pitchFamily="65" charset="-120"/>
                <a:hlinkClick r:id="rId3"/>
              </a:rPr>
              <a:t>https://www.eslite.com/best-sellers/online/3?type=2</a:t>
            </a:r>
            <a:endParaRPr lang="en-US" altLang="zh-CN" sz="1800" dirty="0">
              <a:latin typeface="標楷體" panose="03000509000000000000" pitchFamily="65" charset="-120"/>
              <a:ea typeface="標楷體" panose="03000509000000000000" pitchFamily="65" charset="-120"/>
            </a:endParaRPr>
          </a:p>
          <a:p>
            <a:endParaRPr lang="en-US" altLang="zh-TW" sz="2400" dirty="0">
              <a:latin typeface="標楷體" panose="03000509000000000000" pitchFamily="65" charset="-120"/>
              <a:ea typeface="標楷體" panose="03000509000000000000" pitchFamily="65" charset="-120"/>
            </a:endParaRPr>
          </a:p>
          <a:p>
            <a:r>
              <a:rPr lang="en-US" altLang="zh-CN" sz="2400" dirty="0">
                <a:latin typeface="標楷體" panose="03000509000000000000" pitchFamily="65" charset="-120"/>
                <a:ea typeface="標楷體" panose="03000509000000000000" pitchFamily="65" charset="-120"/>
              </a:rPr>
              <a:t>Step2</a:t>
            </a:r>
            <a:r>
              <a:rPr lang="zh-CN" altLang="en-US" sz="2400" dirty="0">
                <a:latin typeface="標楷體" panose="03000509000000000000" pitchFamily="65" charset="-120"/>
                <a:ea typeface="標楷體" panose="03000509000000000000" pitchFamily="65" charset="-120"/>
              </a:rPr>
              <a:t>：確認是否由</a:t>
            </a:r>
            <a:r>
              <a:rPr lang="en-US" altLang="zh-CN" sz="2400" dirty="0" err="1">
                <a:latin typeface="標楷體" panose="03000509000000000000" pitchFamily="65" charset="-120"/>
                <a:ea typeface="標楷體" panose="03000509000000000000" pitchFamily="65" charset="-120"/>
              </a:rPr>
              <a:t>api</a:t>
            </a:r>
            <a:endParaRPr lang="en-US" altLang="zh-CN" sz="24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博客來：無</a:t>
            </a:r>
            <a:endParaRPr lang="en-US" altLang="zh-CN" sz="20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誠品：有</a:t>
            </a:r>
            <a:r>
              <a:rPr lang="en-US" altLang="zh-CN" sz="2000" dirty="0">
                <a:latin typeface="標楷體" panose="03000509000000000000" pitchFamily="65" charset="-120"/>
                <a:ea typeface="標楷體" panose="03000509000000000000" pitchFamily="65" charset="-120"/>
              </a:rPr>
              <a:t>2</a:t>
            </a:r>
            <a:r>
              <a:rPr lang="zh-CN" altLang="en-US" sz="2000" dirty="0">
                <a:latin typeface="標楷體" panose="03000509000000000000" pitchFamily="65" charset="-120"/>
                <a:ea typeface="標楷體" panose="03000509000000000000" pitchFamily="65" charset="-120"/>
              </a:rPr>
              <a:t>層：</a:t>
            </a:r>
            <a:endParaRPr lang="en-US" altLang="zh-CN" sz="2000" dirty="0">
              <a:latin typeface="標楷體" panose="03000509000000000000" pitchFamily="65" charset="-120"/>
              <a:ea typeface="標楷體" panose="03000509000000000000" pitchFamily="65" charset="-120"/>
            </a:endParaRPr>
          </a:p>
          <a:p>
            <a:pPr lvl="2"/>
            <a:r>
              <a:rPr lang="en-US" altLang="zh-TW" sz="1600" dirty="0">
                <a:latin typeface="標楷體" panose="03000509000000000000" pitchFamily="65" charset="-120"/>
                <a:ea typeface="標楷體" panose="03000509000000000000" pitchFamily="65" charset="-120"/>
              </a:rPr>
              <a:t>RANK_API = "https://athena.eslite.com/</a:t>
            </a:r>
            <a:r>
              <a:rPr lang="en-US" altLang="zh-TW" sz="1600" dirty="0" err="1">
                <a:latin typeface="標楷體" panose="03000509000000000000" pitchFamily="65" charset="-120"/>
                <a:ea typeface="標楷體" panose="03000509000000000000" pitchFamily="65" charset="-120"/>
              </a:rPr>
              <a:t>api</a:t>
            </a:r>
            <a:r>
              <a:rPr lang="en-US" altLang="zh-TW" sz="1600" dirty="0">
                <a:latin typeface="標楷體" panose="03000509000000000000" pitchFamily="65" charset="-120"/>
                <a:ea typeface="標楷體" panose="03000509000000000000" pitchFamily="65" charset="-120"/>
              </a:rPr>
              <a:t>/v1/</a:t>
            </a:r>
            <a:r>
              <a:rPr lang="en-US" altLang="zh-TW" sz="1600" dirty="0" err="1">
                <a:latin typeface="標楷體" panose="03000509000000000000" pitchFamily="65" charset="-120"/>
                <a:ea typeface="標楷體" panose="03000509000000000000" pitchFamily="65" charset="-120"/>
              </a:rPr>
              <a:t>best_sellers</a:t>
            </a:r>
            <a:r>
              <a:rPr lang="en-US" altLang="zh-TW" sz="1600" dirty="0">
                <a:latin typeface="標楷體" panose="03000509000000000000" pitchFamily="65" charset="-120"/>
                <a:ea typeface="標楷體" panose="03000509000000000000" pitchFamily="65" charset="-120"/>
              </a:rPr>
              <a:t>/online/month?l1=3&amp;page={}&amp;</a:t>
            </a:r>
            <a:r>
              <a:rPr lang="en-US" altLang="zh-TW" sz="1600" dirty="0" err="1">
                <a:latin typeface="標楷體" panose="03000509000000000000" pitchFamily="65" charset="-120"/>
                <a:ea typeface="標楷體" panose="03000509000000000000" pitchFamily="65" charset="-120"/>
              </a:rPr>
              <a:t>per_page</a:t>
            </a:r>
            <a:r>
              <a:rPr lang="en-US" altLang="zh-TW" sz="1600" dirty="0">
                <a:latin typeface="標楷體" panose="03000509000000000000" pitchFamily="65" charset="-120"/>
                <a:ea typeface="標楷體" panose="03000509000000000000" pitchFamily="65" charset="-120"/>
              </a:rPr>
              <a:t>=20"</a:t>
            </a:r>
          </a:p>
          <a:p>
            <a:pPr lvl="2"/>
            <a:r>
              <a:rPr lang="en-US" altLang="zh-TW" sz="1600" dirty="0">
                <a:latin typeface="標楷體" panose="03000509000000000000" pitchFamily="65" charset="-120"/>
                <a:ea typeface="標楷體" panose="03000509000000000000" pitchFamily="65" charset="-120"/>
              </a:rPr>
              <a:t>PRODUCT_API = "https://athena.eslite.com/</a:t>
            </a:r>
            <a:r>
              <a:rPr lang="en-US" altLang="zh-TW" sz="1600" dirty="0" err="1">
                <a:latin typeface="標楷體" panose="03000509000000000000" pitchFamily="65" charset="-120"/>
                <a:ea typeface="標楷體" panose="03000509000000000000" pitchFamily="65" charset="-120"/>
              </a:rPr>
              <a:t>api</a:t>
            </a:r>
            <a:r>
              <a:rPr lang="en-US" altLang="zh-TW" sz="1600" dirty="0">
                <a:latin typeface="標楷體" panose="03000509000000000000" pitchFamily="65" charset="-120"/>
                <a:ea typeface="標楷體" panose="03000509000000000000" pitchFamily="65" charset="-120"/>
              </a:rPr>
              <a:t>/v1/products/{</a:t>
            </a:r>
            <a:r>
              <a:rPr lang="en-US" altLang="zh-TW" sz="1800" dirty="0" err="1">
                <a:effectLst/>
                <a:latin typeface="標楷體" panose="03000509000000000000" pitchFamily="65" charset="-120"/>
                <a:ea typeface="標楷體" panose="03000509000000000000" pitchFamily="65" charset="-120"/>
              </a:rPr>
              <a:t>productId</a:t>
            </a:r>
            <a:r>
              <a:rPr lang="en-US" altLang="zh-TW" sz="1600" dirty="0">
                <a:latin typeface="標楷體" panose="03000509000000000000" pitchFamily="65" charset="-120"/>
                <a:ea typeface="標楷體" panose="03000509000000000000" pitchFamily="65" charset="-120"/>
              </a:rPr>
              <a:t>}"</a:t>
            </a:r>
          </a:p>
          <a:p>
            <a:pPr lvl="2"/>
            <a:endParaRPr lang="zh-TW" altLang="en-US" sz="1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748549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37CD6B-AF31-4F8D-93F8-87B5EDACB761}"/>
              </a:ext>
            </a:extLst>
          </p:cNvPr>
          <p:cNvSpPr>
            <a:spLocks noGrp="1"/>
          </p:cNvSpPr>
          <p:nvPr>
            <p:ph type="title"/>
          </p:nvPr>
        </p:nvSpPr>
        <p:spPr/>
        <p:txBody>
          <a:bodyPr>
            <a:normAutofit/>
          </a:bodyPr>
          <a:lstStyle/>
          <a:p>
            <a:r>
              <a:rPr lang="zh-CN" altLang="en-US" sz="4800" dirty="0">
                <a:latin typeface="標楷體" panose="03000509000000000000" pitchFamily="65" charset="-120"/>
                <a:ea typeface="標楷體" panose="03000509000000000000" pitchFamily="65" charset="-120"/>
              </a:rPr>
              <a:t>流程</a:t>
            </a:r>
            <a:endParaRPr lang="zh-TW" altLang="en-US" sz="4800" dirty="0">
              <a:latin typeface="標楷體" panose="03000509000000000000" pitchFamily="65" charset="-120"/>
              <a:ea typeface="標楷體" panose="03000509000000000000" pitchFamily="65" charset="-120"/>
            </a:endParaRPr>
          </a:p>
        </p:txBody>
      </p:sp>
      <p:sp>
        <p:nvSpPr>
          <p:cNvPr id="3" name="內容版面配置區 2">
            <a:extLst>
              <a:ext uri="{FF2B5EF4-FFF2-40B4-BE49-F238E27FC236}">
                <a16:creationId xmlns:a16="http://schemas.microsoft.com/office/drawing/2014/main" id="{2BE338DA-7EC8-420B-AEC9-6C71B787D096}"/>
              </a:ext>
            </a:extLst>
          </p:cNvPr>
          <p:cNvSpPr>
            <a:spLocks noGrp="1"/>
          </p:cNvSpPr>
          <p:nvPr>
            <p:ph idx="1"/>
          </p:nvPr>
        </p:nvSpPr>
        <p:spPr/>
        <p:txBody>
          <a:bodyPr>
            <a:normAutofit/>
          </a:bodyPr>
          <a:lstStyle/>
          <a:p>
            <a:r>
              <a:rPr lang="en-US" altLang="zh-CN" sz="2400" dirty="0">
                <a:latin typeface="標楷體" panose="03000509000000000000" pitchFamily="65" charset="-120"/>
                <a:ea typeface="標楷體" panose="03000509000000000000" pitchFamily="65" charset="-120"/>
              </a:rPr>
              <a:t>Step3</a:t>
            </a:r>
            <a:r>
              <a:rPr lang="zh-CN" altLang="en-US" sz="2400" dirty="0">
                <a:latin typeface="標楷體" panose="03000509000000000000" pitchFamily="65" charset="-120"/>
                <a:ea typeface="標楷體" panose="03000509000000000000" pitchFamily="65" charset="-120"/>
              </a:rPr>
              <a:t>：確認做法</a:t>
            </a:r>
            <a:endParaRPr lang="en-US" altLang="zh-CN" sz="24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誠品：使用</a:t>
            </a:r>
            <a:r>
              <a:rPr lang="en-US" altLang="zh-CN" sz="2000" dirty="0">
                <a:latin typeface="標楷體" panose="03000509000000000000" pitchFamily="65" charset="-120"/>
                <a:ea typeface="標楷體" panose="03000509000000000000" pitchFamily="65" charset="-120"/>
              </a:rPr>
              <a:t>2</a:t>
            </a:r>
            <a:r>
              <a:rPr lang="zh-CN" altLang="en-US" sz="2000" dirty="0">
                <a:latin typeface="標楷體" panose="03000509000000000000" pitchFamily="65" charset="-120"/>
                <a:ea typeface="標楷體" panose="03000509000000000000" pitchFamily="65" charset="-120"/>
              </a:rPr>
              <a:t>層</a:t>
            </a:r>
            <a:r>
              <a:rPr lang="en-US" altLang="zh-CN" sz="2000" dirty="0" err="1">
                <a:latin typeface="標楷體" panose="03000509000000000000" pitchFamily="65" charset="-120"/>
                <a:ea typeface="標楷體" panose="03000509000000000000" pitchFamily="65" charset="-120"/>
              </a:rPr>
              <a:t>api</a:t>
            </a:r>
            <a:r>
              <a:rPr lang="zh-CN" altLang="en-US" sz="2000" dirty="0">
                <a:latin typeface="標楷體" panose="03000509000000000000" pitchFamily="65" charset="-120"/>
                <a:ea typeface="標楷體" panose="03000509000000000000" pitchFamily="65" charset="-120"/>
              </a:rPr>
              <a:t>撈取，先撈取</a:t>
            </a:r>
            <a:r>
              <a:rPr lang="en-US" altLang="zh-CN" sz="2000" dirty="0">
                <a:latin typeface="標楷體" panose="03000509000000000000" pitchFamily="65" charset="-120"/>
                <a:ea typeface="標楷體" panose="03000509000000000000" pitchFamily="65" charset="-120"/>
              </a:rPr>
              <a:t>product id</a:t>
            </a:r>
            <a:r>
              <a:rPr lang="zh-CN" altLang="en-US" sz="2000" dirty="0">
                <a:latin typeface="標楷體" panose="03000509000000000000" pitchFamily="65" charset="-120"/>
                <a:ea typeface="標楷體" panose="03000509000000000000" pitchFamily="65" charset="-120"/>
              </a:rPr>
              <a:t>，再以</a:t>
            </a:r>
            <a:r>
              <a:rPr lang="en-US" altLang="zh-CN" sz="2000" dirty="0">
                <a:latin typeface="標楷體" panose="03000509000000000000" pitchFamily="65" charset="-120"/>
                <a:ea typeface="標楷體" panose="03000509000000000000" pitchFamily="65" charset="-120"/>
              </a:rPr>
              <a:t>id</a:t>
            </a:r>
            <a:r>
              <a:rPr lang="zh-CN" altLang="en-US" sz="2000" dirty="0">
                <a:latin typeface="標楷體" panose="03000509000000000000" pitchFamily="65" charset="-120"/>
                <a:ea typeface="標楷體" panose="03000509000000000000" pitchFamily="65" charset="-120"/>
              </a:rPr>
              <a:t>撈取</a:t>
            </a:r>
            <a:r>
              <a:rPr lang="en-US" altLang="zh-CN" sz="2000" dirty="0">
                <a:latin typeface="標楷體" panose="03000509000000000000" pitchFamily="65" charset="-120"/>
                <a:ea typeface="標楷體" panose="03000509000000000000" pitchFamily="65" charset="-120"/>
              </a:rPr>
              <a:t>ISBN</a:t>
            </a:r>
          </a:p>
          <a:p>
            <a:pPr lvl="1"/>
            <a:r>
              <a:rPr lang="zh-CN" altLang="en-US" sz="2000" dirty="0">
                <a:latin typeface="標楷體" panose="03000509000000000000" pitchFamily="65" charset="-120"/>
                <a:ea typeface="標楷體" panose="03000509000000000000" pitchFamily="65" charset="-120"/>
              </a:rPr>
              <a:t>博客來：直接以爬蟲程式抓取網頁的</a:t>
            </a:r>
            <a:r>
              <a:rPr lang="en-US" altLang="zh-CN" sz="2000" dirty="0">
                <a:latin typeface="標楷體" panose="03000509000000000000" pitchFamily="65" charset="-120"/>
                <a:ea typeface="標楷體" panose="03000509000000000000" pitchFamily="65" charset="-120"/>
              </a:rPr>
              <a:t>ISBN</a:t>
            </a:r>
          </a:p>
          <a:p>
            <a:pPr lvl="1"/>
            <a:endParaRPr lang="en-US" altLang="zh-TW" sz="2400" dirty="0">
              <a:latin typeface="標楷體" panose="03000509000000000000" pitchFamily="65" charset="-120"/>
              <a:ea typeface="標楷體" panose="03000509000000000000" pitchFamily="65" charset="-120"/>
            </a:endParaRPr>
          </a:p>
          <a:p>
            <a:r>
              <a:rPr lang="en-US" altLang="zh-CN" sz="2400" dirty="0">
                <a:latin typeface="標楷體" panose="03000509000000000000" pitchFamily="65" charset="-120"/>
                <a:ea typeface="標楷體" panose="03000509000000000000" pitchFamily="65" charset="-120"/>
              </a:rPr>
              <a:t>Step4</a:t>
            </a:r>
            <a:r>
              <a:rPr lang="zh-CN" altLang="en-US" sz="2400" dirty="0">
                <a:latin typeface="標楷體" panose="03000509000000000000" pitchFamily="65" charset="-120"/>
                <a:ea typeface="標楷體" panose="03000509000000000000" pitchFamily="65" charset="-120"/>
              </a:rPr>
              <a:t>：以</a:t>
            </a:r>
            <a:r>
              <a:rPr lang="en-US" altLang="zh-CN" sz="2400" dirty="0">
                <a:latin typeface="標楷體" panose="03000509000000000000" pitchFamily="65" charset="-120"/>
                <a:ea typeface="標楷體" panose="03000509000000000000" pitchFamily="65" charset="-120"/>
              </a:rPr>
              <a:t>ISBN</a:t>
            </a:r>
            <a:r>
              <a:rPr lang="zh-CN" altLang="en-US" sz="2400" dirty="0">
                <a:latin typeface="標楷體" panose="03000509000000000000" pitchFamily="65" charset="-120"/>
                <a:ea typeface="標楷體" panose="03000509000000000000" pitchFamily="65" charset="-120"/>
              </a:rPr>
              <a:t>確認交大圖書館是否有館藏</a:t>
            </a:r>
            <a:endParaRPr lang="en-US" altLang="zh-CN" sz="24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確認交大圖書圖書館的館藏方法：</a:t>
            </a:r>
            <a:r>
              <a:rPr lang="en-US" altLang="zh-CN" sz="2000" dirty="0">
                <a:latin typeface="標楷體" panose="03000509000000000000" pitchFamily="65" charset="-120"/>
                <a:ea typeface="標楷體" panose="03000509000000000000" pitchFamily="65" charset="-120"/>
              </a:rPr>
              <a:t>API</a:t>
            </a:r>
          </a:p>
          <a:p>
            <a:pPr lvl="2"/>
            <a:r>
              <a:rPr lang="en-US" altLang="zh-TW" sz="1800" kern="100" dirty="0">
                <a:effectLst/>
                <a:latin typeface="標楷體" panose="03000509000000000000" pitchFamily="65" charset="-120"/>
                <a:ea typeface="標楷體" panose="03000509000000000000" pitchFamily="65" charset="-120"/>
                <a:cs typeface="Times New Roman" panose="02020603050405020304" pitchFamily="18" charset="0"/>
              </a:rPr>
              <a:t>https://nycu.alma.exlibrisgroup.com/view/sru/886UST_NYCU?version=1.2&amp;operation=searchRetrieve&amp;query=alma.isbn={isbn}</a:t>
            </a:r>
            <a:endParaRPr lang="zh-TW" altLang="zh-TW" sz="1800" kern="100" dirty="0">
              <a:effectLst/>
              <a:latin typeface="標楷體" panose="03000509000000000000" pitchFamily="65" charset="-120"/>
              <a:ea typeface="標楷體" panose="03000509000000000000" pitchFamily="65" charset="-120"/>
              <a:cs typeface="Times New Roman" panose="02020603050405020304" pitchFamily="18" charset="0"/>
            </a:endParaRPr>
          </a:p>
          <a:p>
            <a:pPr lvl="2"/>
            <a:endParaRPr lang="zh-TW" altLang="en-US" sz="16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12493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37CD6B-AF31-4F8D-93F8-87B5EDACB761}"/>
              </a:ext>
            </a:extLst>
          </p:cNvPr>
          <p:cNvSpPr>
            <a:spLocks noGrp="1"/>
          </p:cNvSpPr>
          <p:nvPr>
            <p:ph type="title"/>
          </p:nvPr>
        </p:nvSpPr>
        <p:spPr/>
        <p:txBody>
          <a:bodyPr>
            <a:normAutofit/>
          </a:bodyPr>
          <a:lstStyle/>
          <a:p>
            <a:r>
              <a:rPr lang="zh-CN" altLang="en-US" sz="4800" dirty="0">
                <a:latin typeface="標楷體" panose="03000509000000000000" pitchFamily="65" charset="-120"/>
                <a:ea typeface="標楷體" panose="03000509000000000000" pitchFamily="65" charset="-120"/>
              </a:rPr>
              <a:t>流程</a:t>
            </a:r>
            <a:endParaRPr lang="zh-TW" altLang="en-US" sz="4800" dirty="0">
              <a:latin typeface="標楷體" panose="03000509000000000000" pitchFamily="65" charset="-120"/>
              <a:ea typeface="標楷體" panose="03000509000000000000" pitchFamily="65" charset="-120"/>
            </a:endParaRPr>
          </a:p>
        </p:txBody>
      </p:sp>
      <p:sp>
        <p:nvSpPr>
          <p:cNvPr id="3" name="內容版面配置區 2">
            <a:extLst>
              <a:ext uri="{FF2B5EF4-FFF2-40B4-BE49-F238E27FC236}">
                <a16:creationId xmlns:a16="http://schemas.microsoft.com/office/drawing/2014/main" id="{2BE338DA-7EC8-420B-AEC9-6C71B787D096}"/>
              </a:ext>
            </a:extLst>
          </p:cNvPr>
          <p:cNvSpPr>
            <a:spLocks noGrp="1"/>
          </p:cNvSpPr>
          <p:nvPr>
            <p:ph idx="1"/>
          </p:nvPr>
        </p:nvSpPr>
        <p:spPr>
          <a:xfrm>
            <a:off x="628650" y="1825624"/>
            <a:ext cx="7886700" cy="5032375"/>
          </a:xfrm>
        </p:spPr>
        <p:txBody>
          <a:bodyPr>
            <a:normAutofit fontScale="92500" lnSpcReduction="20000"/>
          </a:bodyPr>
          <a:lstStyle/>
          <a:p>
            <a:r>
              <a:rPr lang="en-US" altLang="zh-CN" sz="2400" dirty="0">
                <a:latin typeface="標楷體" panose="03000509000000000000" pitchFamily="65" charset="-120"/>
                <a:ea typeface="標楷體" panose="03000509000000000000" pitchFamily="65" charset="-120"/>
              </a:rPr>
              <a:t>Step5</a:t>
            </a:r>
            <a:r>
              <a:rPr lang="zh-CN" altLang="en-US" sz="2400" dirty="0">
                <a:latin typeface="標楷體" panose="03000509000000000000" pitchFamily="65" charset="-120"/>
                <a:ea typeface="標楷體" panose="03000509000000000000" pitchFamily="65" charset="-120"/>
              </a:rPr>
              <a:t>：導出結果</a:t>
            </a:r>
            <a:endParaRPr lang="en-US" altLang="zh-CN" sz="2400" dirty="0">
              <a:latin typeface="標楷體" panose="03000509000000000000" pitchFamily="65" charset="-120"/>
              <a:ea typeface="標楷體" panose="03000509000000000000" pitchFamily="65" charset="-120"/>
            </a:endParaRPr>
          </a:p>
          <a:p>
            <a:pPr lvl="1"/>
            <a:r>
              <a:rPr lang="zh-CN" altLang="en-US" sz="2000" dirty="0">
                <a:latin typeface="標楷體" panose="03000509000000000000" pitchFamily="65" charset="-120"/>
                <a:ea typeface="標楷體" panose="03000509000000000000" pitchFamily="65" charset="-120"/>
              </a:rPr>
              <a:t>匯出</a:t>
            </a:r>
            <a:r>
              <a:rPr lang="en-US" altLang="zh-CN" sz="2000" dirty="0">
                <a:latin typeface="標楷體" panose="03000509000000000000" pitchFamily="65" charset="-120"/>
                <a:ea typeface="標楷體" panose="03000509000000000000" pitchFamily="65" charset="-120"/>
              </a:rPr>
              <a:t>excel</a:t>
            </a:r>
          </a:p>
          <a:p>
            <a:r>
              <a:rPr lang="en-US" altLang="zh-CN" sz="2400" dirty="0">
                <a:latin typeface="標楷體" panose="03000509000000000000" pitchFamily="65" charset="-120"/>
                <a:ea typeface="標楷體" panose="03000509000000000000" pitchFamily="65" charset="-120"/>
              </a:rPr>
              <a:t>Step6</a:t>
            </a:r>
            <a:r>
              <a:rPr lang="zh-CN" altLang="en-US" sz="2400" dirty="0">
                <a:latin typeface="標楷體" panose="03000509000000000000" pitchFamily="65" charset="-120"/>
                <a:ea typeface="標楷體" panose="03000509000000000000" pitchFamily="65" charset="-120"/>
              </a:rPr>
              <a:t>：微調</a:t>
            </a:r>
            <a:r>
              <a:rPr lang="en-US" altLang="zh-CN" sz="2400" dirty="0">
                <a:latin typeface="標楷體" panose="03000509000000000000" pitchFamily="65" charset="-120"/>
                <a:ea typeface="標楷體" panose="03000509000000000000" pitchFamily="65" charset="-120"/>
              </a:rPr>
              <a:t>excel</a:t>
            </a:r>
            <a:r>
              <a:rPr lang="zh-CN" altLang="en-US" sz="2400" dirty="0">
                <a:latin typeface="標楷體" panose="03000509000000000000" pitchFamily="65" charset="-120"/>
                <a:ea typeface="標楷體" panose="03000509000000000000" pitchFamily="65" charset="-120"/>
              </a:rPr>
              <a:t>排版及格式</a:t>
            </a:r>
            <a:endParaRPr lang="en-US" altLang="zh-CN" sz="2000" dirty="0">
              <a:latin typeface="標楷體" panose="03000509000000000000" pitchFamily="65" charset="-120"/>
              <a:ea typeface="標楷體" panose="03000509000000000000" pitchFamily="65" charset="-120"/>
            </a:endParaRPr>
          </a:p>
          <a:p>
            <a:endParaRPr lang="en-US" altLang="zh-CN" sz="2400" dirty="0">
              <a:latin typeface="標楷體" panose="03000509000000000000" pitchFamily="65" charset="-120"/>
              <a:ea typeface="標楷體" panose="03000509000000000000" pitchFamily="65" charset="-120"/>
            </a:endParaRPr>
          </a:p>
          <a:p>
            <a:r>
              <a:rPr lang="zh-CN" altLang="en-US" sz="2400" dirty="0">
                <a:latin typeface="標楷體" panose="03000509000000000000" pitchFamily="65" charset="-120"/>
                <a:ea typeface="標楷體" panose="03000509000000000000" pitchFamily="65" charset="-120"/>
              </a:rPr>
              <a:t>問題：</a:t>
            </a:r>
            <a:r>
              <a:rPr lang="zh-CN" altLang="en-US" sz="2400" dirty="0">
                <a:solidFill>
                  <a:srgbClr val="FF0000"/>
                </a:solidFill>
                <a:latin typeface="標楷體" panose="03000509000000000000" pitchFamily="65" charset="-120"/>
                <a:ea typeface="標楷體" panose="03000509000000000000" pitchFamily="65" charset="-120"/>
              </a:rPr>
              <a:t>（增加備註、不抓</a:t>
            </a:r>
            <a:r>
              <a:rPr lang="en-US" altLang="zh-CN" sz="2400" dirty="0">
                <a:solidFill>
                  <a:srgbClr val="FF0000"/>
                </a:solidFill>
                <a:latin typeface="標楷體" panose="03000509000000000000" pitchFamily="65" charset="-120"/>
                <a:ea typeface="標楷體" panose="03000509000000000000" pitchFamily="65" charset="-120"/>
              </a:rPr>
              <a:t>18+</a:t>
            </a:r>
            <a:r>
              <a:rPr lang="zh-CN" altLang="en-US" sz="2400" dirty="0">
                <a:solidFill>
                  <a:srgbClr val="FF0000"/>
                </a:solidFill>
                <a:latin typeface="標楷體" panose="03000509000000000000" pitchFamily="65" charset="-120"/>
                <a:ea typeface="標楷體" panose="03000509000000000000" pitchFamily="65" charset="-120"/>
              </a:rPr>
              <a:t>）</a:t>
            </a:r>
            <a:endParaRPr lang="en-US" altLang="zh-CN" sz="2400" dirty="0">
              <a:solidFill>
                <a:srgbClr val="FF0000"/>
              </a:solidFill>
              <a:latin typeface="標楷體" panose="03000509000000000000" pitchFamily="65" charset="-120"/>
              <a:ea typeface="標楷體" panose="03000509000000000000" pitchFamily="65" charset="-120"/>
            </a:endParaRPr>
          </a:p>
          <a:p>
            <a:pPr lvl="1">
              <a:lnSpc>
                <a:spcPct val="110000"/>
              </a:lnSpc>
            </a:pPr>
            <a:r>
              <a:rPr lang="zh-CN" altLang="en-US" sz="1700" dirty="0">
                <a:latin typeface="標楷體" panose="03000509000000000000" pitchFamily="65" charset="-120"/>
                <a:ea typeface="標楷體" panose="03000509000000000000" pitchFamily="65" charset="-120"/>
              </a:rPr>
              <a:t>博客來因為沒有</a:t>
            </a:r>
            <a:r>
              <a:rPr lang="en-US" altLang="zh-CN" sz="1700" dirty="0" err="1">
                <a:latin typeface="標楷體" panose="03000509000000000000" pitchFamily="65" charset="-120"/>
                <a:ea typeface="標楷體" panose="03000509000000000000" pitchFamily="65" charset="-120"/>
              </a:rPr>
              <a:t>api</a:t>
            </a:r>
            <a:r>
              <a:rPr lang="zh-CN" altLang="en-US" sz="1700" dirty="0">
                <a:latin typeface="標楷體" panose="03000509000000000000" pitchFamily="65" charset="-120"/>
                <a:ea typeface="標楷體" panose="03000509000000000000" pitchFamily="65" charset="-120"/>
              </a:rPr>
              <a:t>，所以個別書的作者無法抓取。</a:t>
            </a:r>
            <a:endParaRPr lang="en-US" altLang="zh-CN" sz="1700" dirty="0">
              <a:latin typeface="標楷體" panose="03000509000000000000" pitchFamily="65" charset="-120"/>
              <a:ea typeface="標楷體" panose="03000509000000000000" pitchFamily="65" charset="-120"/>
            </a:endParaRPr>
          </a:p>
          <a:p>
            <a:pPr lvl="1">
              <a:lnSpc>
                <a:spcPct val="110000"/>
              </a:lnSpc>
            </a:pPr>
            <a:r>
              <a:rPr lang="zh-CN" altLang="en-US" sz="1700" strike="sngStrike" dirty="0">
                <a:latin typeface="標楷體" panose="03000509000000000000" pitchFamily="65" charset="-120"/>
                <a:ea typeface="標楷體" panose="03000509000000000000" pitchFamily="65" charset="-120"/>
              </a:rPr>
              <a:t>博客來有些</a:t>
            </a:r>
            <a:r>
              <a:rPr lang="en-US" altLang="zh-CN" sz="1700" strike="sngStrike" dirty="0">
                <a:latin typeface="標楷體" panose="03000509000000000000" pitchFamily="65" charset="-120"/>
                <a:ea typeface="標楷體" panose="03000509000000000000" pitchFamily="65" charset="-120"/>
              </a:rPr>
              <a:t>18+</a:t>
            </a:r>
            <a:r>
              <a:rPr lang="zh-CN" altLang="en-US" sz="1700" strike="sngStrike" dirty="0">
                <a:latin typeface="標楷體" panose="03000509000000000000" pitchFamily="65" charset="-120"/>
                <a:ea typeface="標楷體" panose="03000509000000000000" pitchFamily="65" charset="-120"/>
              </a:rPr>
              <a:t>的書因為要登入所以抓不到資料（之後可以再調程式）。</a:t>
            </a:r>
            <a:endParaRPr lang="en-US" altLang="zh-CN" sz="1700" strike="sngStrike" dirty="0">
              <a:latin typeface="標楷體" panose="03000509000000000000" pitchFamily="65" charset="-120"/>
              <a:ea typeface="標楷體" panose="03000509000000000000" pitchFamily="65" charset="-120"/>
            </a:endParaRPr>
          </a:p>
          <a:p>
            <a:pPr lvl="1">
              <a:lnSpc>
                <a:spcPct val="110000"/>
              </a:lnSpc>
            </a:pPr>
            <a:r>
              <a:rPr lang="zh-CN" altLang="en-US" sz="1700" dirty="0">
                <a:latin typeface="標楷體" panose="03000509000000000000" pitchFamily="65" charset="-120"/>
                <a:ea typeface="標楷體" panose="03000509000000000000" pitchFamily="65" charset="-120"/>
              </a:rPr>
              <a:t>博客來因為使用爬蟲所以抓取每筆資料的間隔時間必須放大（目前測試是要</a:t>
            </a:r>
            <a:r>
              <a:rPr lang="en-US" altLang="zh-CN" sz="1700" dirty="0">
                <a:latin typeface="標楷體" panose="03000509000000000000" pitchFamily="65" charset="-120"/>
                <a:ea typeface="標楷體" panose="03000509000000000000" pitchFamily="65" charset="-120"/>
              </a:rPr>
              <a:t>&gt;80</a:t>
            </a:r>
            <a:r>
              <a:rPr lang="zh-CN" altLang="en-US" sz="1700" dirty="0">
                <a:latin typeface="標楷體" panose="03000509000000000000" pitchFamily="65" charset="-120"/>
                <a:ea typeface="標楷體" panose="03000509000000000000" pitchFamily="65" charset="-120"/>
              </a:rPr>
              <a:t>秒，或許可以更短），故全部跑完大約要</a:t>
            </a:r>
            <a:r>
              <a:rPr lang="en-US" altLang="zh-CN" sz="1700" dirty="0">
                <a:latin typeface="標楷體" panose="03000509000000000000" pitchFamily="65" charset="-120"/>
                <a:ea typeface="標楷體" panose="03000509000000000000" pitchFamily="65" charset="-120"/>
              </a:rPr>
              <a:t>2</a:t>
            </a:r>
            <a:r>
              <a:rPr lang="zh-CN" altLang="en-US" sz="1700" dirty="0">
                <a:latin typeface="標楷體" panose="03000509000000000000" pitchFamily="65" charset="-120"/>
                <a:ea typeface="標楷體" panose="03000509000000000000" pitchFamily="65" charset="-120"/>
              </a:rPr>
              <a:t>小時多。</a:t>
            </a:r>
            <a:endParaRPr lang="en-US" altLang="zh-CN" sz="1700" dirty="0">
              <a:latin typeface="標楷體" panose="03000509000000000000" pitchFamily="65" charset="-120"/>
              <a:ea typeface="標楷體" panose="03000509000000000000" pitchFamily="65" charset="-120"/>
            </a:endParaRPr>
          </a:p>
          <a:p>
            <a:pPr lvl="1">
              <a:lnSpc>
                <a:spcPct val="110000"/>
              </a:lnSpc>
            </a:pPr>
            <a:r>
              <a:rPr lang="zh-CN" altLang="en-US" sz="1700" dirty="0">
                <a:latin typeface="標楷體" panose="03000509000000000000" pitchFamily="65" charset="-120"/>
                <a:ea typeface="標楷體" panose="03000509000000000000" pitchFamily="65" charset="-120"/>
              </a:rPr>
              <a:t>個別書在交大以</a:t>
            </a:r>
            <a:r>
              <a:rPr lang="en-US" altLang="zh-CN" sz="1700" dirty="0" err="1">
                <a:latin typeface="標楷體" panose="03000509000000000000" pitchFamily="65" charset="-120"/>
                <a:ea typeface="標楷體" panose="03000509000000000000" pitchFamily="65" charset="-120"/>
              </a:rPr>
              <a:t>api</a:t>
            </a:r>
            <a:r>
              <a:rPr lang="zh-CN" altLang="en-US" sz="1700" dirty="0">
                <a:latin typeface="標楷體" panose="03000509000000000000" pitchFamily="65" charset="-120"/>
                <a:ea typeface="標楷體" panose="03000509000000000000" pitchFamily="65" charset="-120"/>
              </a:rPr>
              <a:t>查詢的結果會與網頁查詢結果不一致？</a:t>
            </a:r>
            <a:endParaRPr lang="en-US" altLang="zh-CN" sz="1700" dirty="0">
              <a:latin typeface="標楷體" panose="03000509000000000000" pitchFamily="65" charset="-120"/>
              <a:ea typeface="標楷體" panose="03000509000000000000" pitchFamily="65" charset="-120"/>
            </a:endParaRPr>
          </a:p>
          <a:p>
            <a:pPr lvl="2">
              <a:lnSpc>
                <a:spcPct val="110000"/>
              </a:lnSpc>
            </a:pPr>
            <a:r>
              <a:rPr lang="zh-CN" altLang="en-US" sz="1300" dirty="0">
                <a:latin typeface="標楷體" panose="03000509000000000000" pitchFamily="65" charset="-120"/>
                <a:ea typeface="標楷體" panose="03000509000000000000" pitchFamily="65" charset="-120"/>
              </a:rPr>
              <a:t>「</a:t>
            </a:r>
            <a:r>
              <a:rPr lang="zh-TW" altLang="en-US" sz="1300" dirty="0">
                <a:latin typeface="標楷體" panose="03000509000000000000" pitchFamily="65" charset="-120"/>
                <a:ea typeface="標楷體" panose="03000509000000000000" pitchFamily="65" charset="-120"/>
              </a:rPr>
              <a:t>紀律長贏</a:t>
            </a:r>
            <a:r>
              <a:rPr lang="en-US" altLang="zh-TW" sz="1300" dirty="0">
                <a:latin typeface="標楷體" panose="03000509000000000000" pitchFamily="65" charset="-120"/>
                <a:ea typeface="標楷體" panose="03000509000000000000" pitchFamily="65" charset="-120"/>
              </a:rPr>
              <a:t>: </a:t>
            </a:r>
            <a:r>
              <a:rPr lang="zh-TW" altLang="en-US" sz="1300" dirty="0">
                <a:latin typeface="標楷體" panose="03000509000000000000" pitchFamily="65" charset="-120"/>
                <a:ea typeface="標楷體" panose="03000509000000000000" pitchFamily="65" charset="-120"/>
              </a:rPr>
              <a:t>揭開清大校務基金操盤人風險控管與穩定獲利的策略</a:t>
            </a:r>
            <a:r>
              <a:rPr lang="zh-CN" altLang="en-US" sz="1300" dirty="0">
                <a:latin typeface="標楷體" panose="03000509000000000000" pitchFamily="65" charset="-120"/>
                <a:ea typeface="標楷體" panose="03000509000000000000" pitchFamily="65" charset="-120"/>
              </a:rPr>
              <a:t>」：</a:t>
            </a:r>
            <a:r>
              <a:rPr lang="en-US" altLang="zh-TW" sz="1300" dirty="0">
                <a:latin typeface="標楷體" panose="03000509000000000000" pitchFamily="65" charset="-120"/>
                <a:ea typeface="標楷體" panose="03000509000000000000" pitchFamily="65" charset="-120"/>
              </a:rPr>
              <a:t>9786264177443</a:t>
            </a:r>
            <a:r>
              <a:rPr lang="zh-CN" altLang="en-US" sz="1300" dirty="0">
                <a:latin typeface="標楷體" panose="03000509000000000000" pitchFamily="65" charset="-120"/>
                <a:ea typeface="標楷體" panose="03000509000000000000" pitchFamily="65" charset="-120"/>
              </a:rPr>
              <a:t>，</a:t>
            </a:r>
            <a:r>
              <a:rPr lang="zh-TW" altLang="en-US" sz="1300" dirty="0">
                <a:latin typeface="標楷體" panose="03000509000000000000" pitchFamily="65" charset="-120"/>
                <a:ea typeface="標楷體" panose="03000509000000000000" pitchFamily="65" charset="-120"/>
              </a:rPr>
              <a:t>交大圖書館</a:t>
            </a:r>
            <a:r>
              <a:rPr lang="en-US" altLang="zh-TW" sz="1300" dirty="0" err="1">
                <a:latin typeface="標楷體" panose="03000509000000000000" pitchFamily="65" charset="-120"/>
                <a:ea typeface="標楷體" panose="03000509000000000000" pitchFamily="65" charset="-120"/>
              </a:rPr>
              <a:t>api</a:t>
            </a:r>
            <a:r>
              <a:rPr lang="zh-TW" altLang="en-US" sz="1300" dirty="0">
                <a:latin typeface="標楷體" panose="03000509000000000000" pitchFamily="65" charset="-120"/>
                <a:ea typeface="標楷體" panose="03000509000000000000" pitchFamily="65" charset="-120"/>
              </a:rPr>
              <a:t>有，但查詢網站是沒有</a:t>
            </a:r>
            <a:r>
              <a:rPr lang="zh-CN" altLang="en-US" sz="1300" dirty="0">
                <a:latin typeface="標楷體" panose="03000509000000000000" pitchFamily="65" charset="-120"/>
                <a:ea typeface="標楷體" panose="03000509000000000000" pitchFamily="65" charset="-120"/>
              </a:rPr>
              <a:t>。</a:t>
            </a:r>
            <a:r>
              <a:rPr lang="zh-CN" altLang="en-US" sz="1300" dirty="0">
                <a:solidFill>
                  <a:srgbClr val="FF0000"/>
                </a:solidFill>
                <a:latin typeface="標楷體" panose="03000509000000000000" pitchFamily="65" charset="-120"/>
                <a:ea typeface="標楷體" panose="03000509000000000000" pitchFamily="65" charset="-120"/>
              </a:rPr>
              <a:t>（有隱藏，要再確定一下，以</a:t>
            </a:r>
            <a:r>
              <a:rPr lang="en-US" altLang="zh-CN" sz="1300" dirty="0" err="1">
                <a:solidFill>
                  <a:srgbClr val="FF0000"/>
                </a:solidFill>
                <a:latin typeface="標楷體" panose="03000509000000000000" pitchFamily="65" charset="-120"/>
                <a:ea typeface="標楷體" panose="03000509000000000000" pitchFamily="65" charset="-120"/>
              </a:rPr>
              <a:t>api</a:t>
            </a:r>
            <a:r>
              <a:rPr lang="zh-CN" altLang="en-US" sz="1300" dirty="0">
                <a:solidFill>
                  <a:srgbClr val="FF0000"/>
                </a:solidFill>
                <a:latin typeface="標楷體" panose="03000509000000000000" pitchFamily="65" charset="-120"/>
                <a:ea typeface="標楷體" panose="03000509000000000000" pitchFamily="65" charset="-120"/>
              </a:rPr>
              <a:t>為主）</a:t>
            </a:r>
            <a:endParaRPr lang="en-US" altLang="zh-CN" sz="1300" dirty="0">
              <a:solidFill>
                <a:srgbClr val="FF0000"/>
              </a:solidFill>
              <a:latin typeface="標楷體" panose="03000509000000000000" pitchFamily="65" charset="-120"/>
              <a:ea typeface="標楷體" panose="03000509000000000000" pitchFamily="65" charset="-120"/>
            </a:endParaRPr>
          </a:p>
          <a:p>
            <a:pPr lvl="1">
              <a:lnSpc>
                <a:spcPct val="110000"/>
              </a:lnSpc>
            </a:pPr>
            <a:r>
              <a:rPr lang="zh-CN" altLang="en-US" sz="1700" dirty="0">
                <a:latin typeface="標楷體" panose="03000509000000000000" pitchFamily="65" charset="-120"/>
                <a:ea typeface="標楷體" panose="03000509000000000000" pitchFamily="65" charset="-120"/>
              </a:rPr>
              <a:t>個別書無</a:t>
            </a:r>
            <a:r>
              <a:rPr lang="en-US" altLang="zh-CN" sz="1700" dirty="0">
                <a:latin typeface="標楷體" panose="03000509000000000000" pitchFamily="65" charset="-120"/>
                <a:ea typeface="標楷體" panose="03000509000000000000" pitchFamily="65" charset="-120"/>
              </a:rPr>
              <a:t>ISBN</a:t>
            </a:r>
            <a:r>
              <a:rPr lang="zh-CN" altLang="en-US" sz="1700" dirty="0">
                <a:latin typeface="標楷體" panose="03000509000000000000" pitchFamily="65" charset="-120"/>
                <a:ea typeface="標楷體" panose="03000509000000000000" pitchFamily="65" charset="-120"/>
              </a:rPr>
              <a:t>要手動查詢（例如「</a:t>
            </a:r>
            <a:r>
              <a:rPr lang="zh-TW" altLang="en-US" sz="1500" b="0" i="0" u="none" strike="noStrike" dirty="0">
                <a:solidFill>
                  <a:srgbClr val="000000"/>
                </a:solidFill>
                <a:effectLst/>
                <a:latin typeface="標楷體" panose="03000509000000000000" pitchFamily="65" charset="-120"/>
                <a:ea typeface="標楷體" panose="03000509000000000000" pitchFamily="65" charset="-120"/>
              </a:rPr>
              <a:t>張忠謀自傳</a:t>
            </a:r>
            <a:r>
              <a:rPr lang="zh-TW" altLang="en-US" sz="1500" dirty="0">
                <a:solidFill>
                  <a:srgbClr val="000000"/>
                </a:solidFill>
                <a:latin typeface="標楷體" panose="03000509000000000000" pitchFamily="65" charset="-120"/>
                <a:ea typeface="標楷體" panose="03000509000000000000" pitchFamily="65" charset="-120"/>
              </a:rPr>
              <a:t>全集（上下冊） </a:t>
            </a:r>
            <a:r>
              <a:rPr lang="zh-CN" altLang="en-US" sz="1500" dirty="0">
                <a:solidFill>
                  <a:srgbClr val="000000"/>
                </a:solidFill>
                <a:latin typeface="標楷體" panose="03000509000000000000" pitchFamily="65" charset="-120"/>
                <a:ea typeface="標楷體" panose="03000509000000000000" pitchFamily="65" charset="-120"/>
              </a:rPr>
              <a:t>」，誠品）。</a:t>
            </a:r>
            <a:endParaRPr lang="en-US" altLang="zh-CN" sz="1500" dirty="0">
              <a:solidFill>
                <a:srgbClr val="000000"/>
              </a:solidFill>
              <a:latin typeface="標楷體" panose="03000509000000000000" pitchFamily="65" charset="-120"/>
              <a:ea typeface="標楷體" panose="03000509000000000000" pitchFamily="65" charset="-120"/>
            </a:endParaRPr>
          </a:p>
          <a:p>
            <a:pPr lvl="1">
              <a:lnSpc>
                <a:spcPct val="110000"/>
              </a:lnSpc>
            </a:pPr>
            <a:r>
              <a:rPr lang="zh-CN" altLang="en-US" sz="1700" dirty="0">
                <a:latin typeface="標楷體" panose="03000509000000000000" pitchFamily="65" charset="-120"/>
                <a:ea typeface="標楷體" panose="03000509000000000000" pitchFamily="65" charset="-120"/>
              </a:rPr>
              <a:t>尚無法確認博客來或誠品的更新頻率。</a:t>
            </a:r>
            <a:r>
              <a:rPr lang="zh-CN" altLang="en-US" sz="1700" dirty="0">
                <a:solidFill>
                  <a:srgbClr val="FF0000"/>
                </a:solidFill>
                <a:latin typeface="標楷體" panose="03000509000000000000" pitchFamily="65" charset="-120"/>
                <a:ea typeface="標楷體" panose="03000509000000000000" pitchFamily="65" charset="-120"/>
              </a:rPr>
              <a:t>（再確認一下）不用固定每月抓</a:t>
            </a:r>
            <a:endParaRPr lang="en-US" altLang="zh-CN" sz="1700" dirty="0">
              <a:solidFill>
                <a:srgbClr val="FF0000"/>
              </a:solidFill>
              <a:latin typeface="標楷體" panose="03000509000000000000" pitchFamily="65" charset="-120"/>
              <a:ea typeface="標楷體" panose="03000509000000000000" pitchFamily="65" charset="-120"/>
            </a:endParaRPr>
          </a:p>
          <a:p>
            <a:pPr lvl="1">
              <a:lnSpc>
                <a:spcPct val="110000"/>
              </a:lnSpc>
            </a:pPr>
            <a:r>
              <a:rPr lang="zh-CN" altLang="en-US" sz="1700" dirty="0">
                <a:latin typeface="標楷體" panose="03000509000000000000" pitchFamily="65" charset="-120"/>
                <a:ea typeface="標楷體" panose="03000509000000000000" pitchFamily="65" charset="-120"/>
              </a:rPr>
              <a:t>是否需要再寫另外一個程式做檢核，或人工逐一檢核資料正確性。</a:t>
            </a:r>
            <a:endParaRPr lang="en-US" altLang="zh-CN" sz="1700" dirty="0">
              <a:latin typeface="標楷體" panose="03000509000000000000" pitchFamily="65" charset="-120"/>
              <a:ea typeface="標楷體" panose="03000509000000000000" pitchFamily="65" charset="-120"/>
            </a:endParaRPr>
          </a:p>
          <a:p>
            <a:pPr lvl="1">
              <a:lnSpc>
                <a:spcPct val="110000"/>
              </a:lnSpc>
            </a:pPr>
            <a:r>
              <a:rPr lang="zh-CN" altLang="en-US" sz="1700" dirty="0">
                <a:solidFill>
                  <a:srgbClr val="FF0000"/>
                </a:solidFill>
                <a:latin typeface="標楷體" panose="03000509000000000000" pitchFamily="65" charset="-120"/>
                <a:ea typeface="標楷體" panose="03000509000000000000" pitchFamily="65" charset="-120"/>
              </a:rPr>
              <a:t>增加電子</a:t>
            </a:r>
            <a:r>
              <a:rPr lang="en-US" altLang="zh-CN" sz="1700" dirty="0">
                <a:solidFill>
                  <a:srgbClr val="FF0000"/>
                </a:solidFill>
                <a:latin typeface="標楷體" panose="03000509000000000000" pitchFamily="65" charset="-120"/>
                <a:ea typeface="標楷體" panose="03000509000000000000" pitchFamily="65" charset="-120"/>
              </a:rPr>
              <a:t>or</a:t>
            </a:r>
            <a:r>
              <a:rPr lang="zh-CN" altLang="en-US" sz="1700" dirty="0">
                <a:solidFill>
                  <a:srgbClr val="FF0000"/>
                </a:solidFill>
                <a:latin typeface="標楷體" panose="03000509000000000000" pitchFamily="65" charset="-120"/>
                <a:ea typeface="標楷體" panose="03000509000000000000" pitchFamily="65" charset="-120"/>
              </a:rPr>
              <a:t>紙本欄位？每月要抓給採編組？何時開始抓（</a:t>
            </a:r>
            <a:r>
              <a:rPr lang="en-US" altLang="zh-CN" sz="1700" dirty="0">
                <a:solidFill>
                  <a:srgbClr val="FF0000"/>
                </a:solidFill>
                <a:latin typeface="標楷體" panose="03000509000000000000" pitchFamily="65" charset="-120"/>
                <a:ea typeface="標楷體" panose="03000509000000000000" pitchFamily="65" charset="-120"/>
              </a:rPr>
              <a:t>deadline</a:t>
            </a:r>
            <a:r>
              <a:rPr lang="zh-CN" altLang="en-US" sz="1700" dirty="0">
                <a:solidFill>
                  <a:srgbClr val="FF0000"/>
                </a:solidFill>
                <a:latin typeface="標楷體" panose="03000509000000000000" pitchFamily="65" charset="-120"/>
                <a:ea typeface="標楷體" panose="03000509000000000000" pitchFamily="65" charset="-120"/>
              </a:rPr>
              <a:t>）？</a:t>
            </a:r>
            <a:r>
              <a:rPr lang="zh-TW" altLang="en-US" sz="1800" b="0" i="0" u="none" strike="noStrike">
                <a:solidFill>
                  <a:srgbClr val="FF0000"/>
                </a:solidFill>
                <a:effectLst/>
                <a:latin typeface="標楷體" panose="03000509000000000000" pitchFamily="65" charset="-120"/>
                <a:ea typeface="標楷體" panose="03000509000000000000" pitchFamily="65" charset="-120"/>
              </a:rPr>
              <a:t>出版日期有差一天（不准確）</a:t>
            </a:r>
            <a:r>
              <a:rPr lang="zh-TW" altLang="en-US" sz="1400"/>
              <a:t> </a:t>
            </a:r>
            <a:endParaRPr lang="en-US" altLang="zh-CN" sz="1700" dirty="0">
              <a:solidFill>
                <a:srgbClr val="FF0000"/>
              </a:solidFill>
              <a:latin typeface="標楷體" panose="03000509000000000000" pitchFamily="65" charset="-120"/>
              <a:ea typeface="標楷體" panose="03000509000000000000" pitchFamily="65" charset="-120"/>
            </a:endParaRPr>
          </a:p>
          <a:p>
            <a:pPr lvl="1"/>
            <a:endParaRPr lang="en-US" altLang="zh-CN" sz="2000" dirty="0">
              <a:latin typeface="標楷體" panose="03000509000000000000" pitchFamily="65" charset="-120"/>
              <a:ea typeface="標楷體" panose="03000509000000000000" pitchFamily="65" charset="-120"/>
            </a:endParaRPr>
          </a:p>
          <a:p>
            <a:pPr lvl="1"/>
            <a:endParaRPr lang="en-US" altLang="zh-CN" sz="2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298496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7D958-F877-4AE0-ACB9-A2D963225280}"/>
              </a:ext>
            </a:extLst>
          </p:cNvPr>
          <p:cNvSpPr>
            <a:spLocks noGrp="1"/>
          </p:cNvSpPr>
          <p:nvPr>
            <p:ph type="ctrTitle"/>
          </p:nvPr>
        </p:nvSpPr>
        <p:spPr/>
        <p:txBody>
          <a:bodyPr>
            <a:normAutofit/>
          </a:bodyPr>
          <a:lstStyle/>
          <a:p>
            <a:r>
              <a:rPr lang="en-US" altLang="zh-CN" sz="4800" b="1" dirty="0">
                <a:latin typeface="標楷體" panose="03000509000000000000" pitchFamily="65" charset="-120"/>
                <a:ea typeface="標楷體" panose="03000509000000000000" pitchFamily="65" charset="-120"/>
              </a:rPr>
              <a:t>END</a:t>
            </a:r>
            <a:endParaRPr lang="zh-TW" altLang="en-US" sz="4800" b="1" dirty="0">
              <a:latin typeface="標楷體" panose="03000509000000000000" pitchFamily="65" charset="-120"/>
              <a:ea typeface="標楷體" panose="03000509000000000000" pitchFamily="65" charset="-120"/>
            </a:endParaRPr>
          </a:p>
        </p:txBody>
      </p:sp>
      <p:sp>
        <p:nvSpPr>
          <p:cNvPr id="5" name="副標題 4">
            <a:extLst>
              <a:ext uri="{FF2B5EF4-FFF2-40B4-BE49-F238E27FC236}">
                <a16:creationId xmlns:a16="http://schemas.microsoft.com/office/drawing/2014/main" id="{9FD6A402-9DE8-4873-82E0-503C3798B1E2}"/>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0208693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1246</TotalTime>
  <Words>502</Words>
  <Application>Microsoft Office PowerPoint</Application>
  <PresentationFormat>如螢幕大小 (4:3)</PresentationFormat>
  <Paragraphs>39</Paragraphs>
  <Slides>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vt:i4>
      </vt:variant>
    </vt:vector>
  </HeadingPairs>
  <TitlesOfParts>
    <vt:vector size="10" baseType="lpstr">
      <vt:lpstr>標楷體</vt:lpstr>
      <vt:lpstr>Arial</vt:lpstr>
      <vt:lpstr>Calibri</vt:lpstr>
      <vt:lpstr>Calibri Light</vt:lpstr>
      <vt:lpstr>Office 佈景主題</vt:lpstr>
      <vt:lpstr>開發撈每月誠品與博客來中文紙本圖書排行榜並比對是否有館藏報告</vt:lpstr>
      <vt:lpstr>流程</vt:lpstr>
      <vt:lpstr>流程</vt:lpstr>
      <vt:lpstr>流程</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開發撈每月誠品與博客來中文紙本圖書排行榜，並比對是否有館藏報告</dc:title>
  <dc:creator>柏凱 劉</dc:creator>
  <cp:lastModifiedBy>柏凱 劉</cp:lastModifiedBy>
  <cp:revision>48</cp:revision>
  <dcterms:created xsi:type="dcterms:W3CDTF">2026-03-10T08:22:44Z</dcterms:created>
  <dcterms:modified xsi:type="dcterms:W3CDTF">2026-03-12T03:14:14Z</dcterms:modified>
</cp:coreProperties>
</file>