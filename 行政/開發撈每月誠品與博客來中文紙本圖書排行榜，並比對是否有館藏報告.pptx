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4" d="100"/>
          <a:sy n="154" d="100"/>
        </p:scale>
        <p:origin x="20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1F29C5-86B1-4186-AFFD-394786D116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06899F0-E83F-4405-B162-09B9D89213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78E5606-0352-4A65-A6C2-B00C72889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8093-9BE7-43C1-816A-F39A40C11D36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942AA32-B061-407A-AA69-2921D3163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B7D6F2-4DBE-4DB1-9A9E-1F654AE70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D5CA-BE9E-4B2A-82A7-BF9578A87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5466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BB2473-5844-41E5-A2F7-D892DFA38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555595-CD01-4F97-903D-58B5771E7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7D8CF04-5C88-4DDD-B878-CD4C6F799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8093-9BE7-43C1-816A-F39A40C11D36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B0D4E0C-65F1-4009-9736-1F93620A0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E56120B-24DB-4542-8FD9-BEEA77CF5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D5CA-BE9E-4B2A-82A7-BF9578A87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5021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043CFF-5F53-4C4A-B38D-E5C261AEF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2C2CB8D-DC9C-45D2-A477-621799216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C023895-CA91-4DF0-ACC7-7D12FEEEB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8093-9BE7-43C1-816A-F39A40C11D36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420F245-B2EE-4449-8BD1-CCA23A221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FF64E9-79C1-4616-81BE-BC76784B8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D5CA-BE9E-4B2A-82A7-BF9578A87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0215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C8F756-40ED-410B-9E9B-C8E744D0D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85A52C-F404-4B66-904A-918D7256A4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73F66D0-F66A-4D4E-AE10-14BC71D4EB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6A07F28-3654-496A-959C-B68E518C2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8093-9BE7-43C1-816A-F39A40C11D36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526F230-718E-43C7-BDDB-32AA223EB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72AC6F0-C2D4-4D86-9369-80DCF0642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D5CA-BE9E-4B2A-82A7-BF9578A87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7918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D0125F-5CA2-4F5F-B808-5819F482C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3415584-BEC8-4F3F-925D-24FF2AC7B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6047E8F-0C5B-4161-8C42-96AF106CAE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B18B385-0304-4366-9280-67F883F6AE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D0A64B9-A837-46C0-8148-23C43F5FD0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C56F8A3-060C-45F9-B1C1-574D675A9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8093-9BE7-43C1-816A-F39A40C11D36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3B386CA-995D-401F-907E-50C4B6175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2FFCB90-47E4-498D-8221-BFF3B6D06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D5CA-BE9E-4B2A-82A7-BF9578A87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7964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3897BA-835E-41BF-A9C3-DBE19188D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B86CEEC-D3E4-43C6-B898-380B5430D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8093-9BE7-43C1-816A-F39A40C11D36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F2374BC-46BC-492F-B64A-D32FA06A0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95D4041-CDD6-47B0-A6C9-0B0093207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D5CA-BE9E-4B2A-82A7-BF9578A87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7960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CB71ADA-874D-4953-9D78-203EBB011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8093-9BE7-43C1-816A-F39A40C11D36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6E0AF32-8029-455A-B496-14E23291A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F34FA35-50E2-46F4-B7EF-0C4187B08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D5CA-BE9E-4B2A-82A7-BF9578A87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3966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117045-CBD3-41F6-AA08-2C1C8E7D2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39C178-0F12-4E5E-A54B-55EA32252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81FE48E-8113-4277-B64A-E146F94B08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E358587-4446-4470-B313-612A31CAF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8093-9BE7-43C1-816A-F39A40C11D36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5FA7DAC-BEDE-4147-940B-EC87895F6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4964E00-4D4F-4DE2-92F2-4C96FE167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D5CA-BE9E-4B2A-82A7-BF9578A87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9247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570F57-88CA-4F0A-BB0C-61D4D31A4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DE23A1D-2A32-42D1-A624-2516BE9BCA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2BB7B1B-5BF9-4371-99C5-D8DD63076C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FDE2ACA-00C7-4F6B-939F-D38228C6F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8093-9BE7-43C1-816A-F39A40C11D36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B09198C-87FF-4B72-B92E-4F7197871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FCC6736-8120-4995-B8D7-17A888365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D5CA-BE9E-4B2A-82A7-BF9578A87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766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31154B-151D-4C6D-B26D-F12ACE334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9C08DF4-1A98-40D3-A559-D7D416C212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A8257A7-48DE-4639-8B07-6D1F80D09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8093-9BE7-43C1-816A-F39A40C11D36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FA6D875-48FE-4D7C-A788-CD67BBE86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76C59E1-684C-40EF-AFA1-40115D30A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D5CA-BE9E-4B2A-82A7-BF9578A87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3189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86AF357-3362-4DE1-9EA3-813DAE475C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974111E-AB0D-4F90-AAE9-CB17E3DF23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C9E1A0C-AAD6-4EA1-9CC4-399EA1D88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8093-9BE7-43C1-816A-F39A40C11D36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3A26ED8-80F0-40B0-89FF-B6DF3F658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F64A450-D82E-45CF-8068-BD635EF82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D5CA-BE9E-4B2A-82A7-BF9578A87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0755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2E89BF3-C9A0-40F1-ADA4-A3A2F62EE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6194579-DDBD-4700-A7BF-9557E5C0B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F01E4A-7B26-47C1-AEEE-177F9BBC3F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28093-9BE7-43C1-816A-F39A40C11D36}" type="datetimeFigureOut">
              <a:rPr lang="zh-TW" altLang="en-US" smtClean="0"/>
              <a:t>2026/3/10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CAC083B-C3F8-43A0-955E-6A188F83AD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0C905C8-F601-431B-B6AB-9C17D588C4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D5CA-BE9E-4B2A-82A7-BF9578A87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0418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slite.com/best-sellers/online/3?type=2" TargetMode="External"/><Relationship Id="rId2" Type="http://schemas.openxmlformats.org/officeDocument/2006/relationships/hyperlink" Target="https://www.books.com.tw/web/sys_saletopb/books/?attribute=30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77D958-F877-4AE0-ACB9-A2D9632252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sz="4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開發撈每月誠品與博客來中文紙本圖書排行榜，並比對是否有館藏報告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EEDD015-4E60-4767-96D7-6A5F758A40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報告人：劉柏凱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94148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37CD6B-AF31-4F8D-93F8-87B5EDACB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800" dirty="0">
                <a:latin typeface="標楷體" panose="03000509000000000000" pitchFamily="65" charset="-120"/>
                <a:ea typeface="標楷體" panose="03000509000000000000" pitchFamily="65" charset="-120"/>
              </a:rPr>
              <a:t>流程</a:t>
            </a:r>
            <a:endParaRPr lang="zh-TW" altLang="en-US" sz="4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E338DA-7EC8-420B-AEC9-6C71B787D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Step1</a:t>
            </a:r>
            <a:r>
              <a:rPr lang="zh-CN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：確認網址</a:t>
            </a:r>
            <a:endParaRPr lang="en-US" altLang="zh-CN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CN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博客來</a:t>
            </a:r>
            <a:endParaRPr lang="en-US" altLang="zh-CN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2"/>
            <a:r>
              <a:rPr lang="zh-CN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月榜：</a:t>
            </a:r>
            <a:r>
              <a:rPr lang="en-US" altLang="zh-TW" sz="1600" u="sng" kern="100" dirty="0">
                <a:solidFill>
                  <a:srgbClr val="000000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hlinkClick r:id="rId2"/>
              </a:rPr>
              <a:t>https://www.books.com.tw/web/sys_saletopb/books/?attribute=30</a:t>
            </a:r>
            <a:endParaRPr lang="zh-TW" altLang="zh-TW" sz="1600" kern="100" dirty="0">
              <a:solidFill>
                <a:srgbClr val="000000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2"/>
            <a:endParaRPr lang="en-US" altLang="zh-CN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CN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誠品</a:t>
            </a:r>
            <a:endParaRPr lang="en-US" altLang="zh-CN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2"/>
            <a:r>
              <a:rPr lang="zh-CN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月榜：</a:t>
            </a:r>
            <a:r>
              <a:rPr lang="en-US" altLang="zh-CN" sz="1800" dirty="0">
                <a:latin typeface="標楷體" panose="03000509000000000000" pitchFamily="65" charset="-120"/>
                <a:ea typeface="標楷體" panose="03000509000000000000" pitchFamily="65" charset="-120"/>
                <a:hlinkClick r:id="rId3"/>
              </a:rPr>
              <a:t>https://www.eslite.com/best-sellers/online/3?type=2</a:t>
            </a:r>
            <a:endParaRPr lang="en-US" altLang="zh-CN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CN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Step2</a:t>
            </a:r>
            <a:r>
              <a:rPr lang="zh-CN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：確認是否由</a:t>
            </a:r>
            <a:r>
              <a:rPr lang="en-US" altLang="zh-CN" sz="24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api</a:t>
            </a:r>
            <a:endParaRPr lang="en-US" altLang="zh-CN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CN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博客來：無</a:t>
            </a:r>
            <a:endParaRPr lang="en-US" altLang="zh-CN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CN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誠品：有</a:t>
            </a:r>
            <a:r>
              <a:rPr lang="en-US" altLang="zh-CN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r>
              <a:rPr lang="zh-CN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層：</a:t>
            </a:r>
            <a:endParaRPr lang="en-US" altLang="zh-CN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2"/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RANK_API = "https://athena.eslite.com/</a:t>
            </a:r>
            <a:r>
              <a:rPr lang="en-US" altLang="zh-TW" sz="16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api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/v1/</a:t>
            </a:r>
            <a:r>
              <a:rPr lang="en-US" altLang="zh-TW" sz="16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best_sellers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/online/month?l1=3&amp;page={}&amp;</a:t>
            </a:r>
            <a:r>
              <a:rPr lang="en-US" altLang="zh-TW" sz="16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per_page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=20"</a:t>
            </a:r>
          </a:p>
          <a:p>
            <a:pPr lvl="2"/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PRODUCT_API = "https://athena.eslite.com/</a:t>
            </a:r>
            <a:r>
              <a:rPr lang="en-US" altLang="zh-TW" sz="16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api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/v1/products/{</a:t>
            </a:r>
            <a:r>
              <a:rPr lang="en-US" altLang="zh-TW" sz="1800" dirty="0" err="1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productId</a:t>
            </a:r>
            <a:r>
              <a:rPr lang="en-US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}"</a:t>
            </a:r>
          </a:p>
          <a:p>
            <a:pPr lvl="2"/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48549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37CD6B-AF31-4F8D-93F8-87B5EDACB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800" dirty="0">
                <a:latin typeface="標楷體" panose="03000509000000000000" pitchFamily="65" charset="-120"/>
                <a:ea typeface="標楷體" panose="03000509000000000000" pitchFamily="65" charset="-120"/>
              </a:rPr>
              <a:t>流程</a:t>
            </a:r>
            <a:endParaRPr lang="zh-TW" altLang="en-US" sz="4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E338DA-7EC8-420B-AEC9-6C71B787D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Step3</a:t>
            </a:r>
            <a:r>
              <a:rPr lang="zh-CN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：確認做法</a:t>
            </a:r>
            <a:endParaRPr lang="en-US" altLang="zh-CN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CN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誠品：使用</a:t>
            </a:r>
            <a:r>
              <a:rPr lang="en-US" altLang="zh-CN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r>
              <a:rPr lang="zh-CN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層</a:t>
            </a:r>
            <a:r>
              <a:rPr lang="en-US" altLang="zh-CN" sz="20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api</a:t>
            </a:r>
            <a:r>
              <a:rPr lang="zh-CN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撈取，先撈取</a:t>
            </a:r>
            <a:r>
              <a:rPr lang="en-US" altLang="zh-CN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product id</a:t>
            </a:r>
            <a:r>
              <a:rPr lang="zh-CN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，再以</a:t>
            </a:r>
            <a:r>
              <a:rPr lang="en-US" altLang="zh-CN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id</a:t>
            </a:r>
            <a:r>
              <a:rPr lang="zh-CN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撈取</a:t>
            </a:r>
            <a:r>
              <a:rPr lang="en-US" altLang="zh-CN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ISBN</a:t>
            </a:r>
          </a:p>
          <a:p>
            <a:pPr lvl="1"/>
            <a:r>
              <a:rPr lang="zh-CN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博客來：直接以爬蟲程式抓取網頁的</a:t>
            </a:r>
            <a:r>
              <a:rPr lang="en-US" altLang="zh-CN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ISBN</a:t>
            </a:r>
          </a:p>
          <a:p>
            <a:pPr lvl="1"/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CN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Step4</a:t>
            </a:r>
            <a:r>
              <a:rPr lang="zh-CN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：以</a:t>
            </a:r>
            <a:r>
              <a:rPr lang="en-US" altLang="zh-CN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ISBN</a:t>
            </a:r>
            <a:r>
              <a:rPr lang="zh-CN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確認交大圖書館是否有館藏</a:t>
            </a:r>
            <a:endParaRPr lang="en-US" altLang="zh-CN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CN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確認交大圖書圖書館的館藏方法：</a:t>
            </a:r>
            <a:r>
              <a:rPr lang="en-US" altLang="zh-CN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API</a:t>
            </a:r>
          </a:p>
          <a:p>
            <a:pPr lvl="2"/>
            <a:r>
              <a:rPr lang="en-US" altLang="zh-TW" sz="1800" kern="100" dirty="0">
                <a:effectLst/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https://nycu.alma.exlibrisgroup.com/view/sru/886UST_NYCU?version=1.2&amp;operation=searchRetrieve&amp;query=alma.isbn={isbn}</a:t>
            </a:r>
            <a:endParaRPr lang="zh-TW" altLang="zh-TW" sz="1800" kern="100" dirty="0">
              <a:effectLst/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2"/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24936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37CD6B-AF31-4F8D-93F8-87B5EDACB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800" dirty="0">
                <a:latin typeface="標楷體" panose="03000509000000000000" pitchFamily="65" charset="-120"/>
                <a:ea typeface="標楷體" panose="03000509000000000000" pitchFamily="65" charset="-120"/>
              </a:rPr>
              <a:t>流程</a:t>
            </a:r>
            <a:endParaRPr lang="zh-TW" altLang="en-US" sz="4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E338DA-7EC8-420B-AEC9-6C71B787D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Step5</a:t>
            </a:r>
            <a:r>
              <a:rPr lang="zh-CN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：導出結果</a:t>
            </a:r>
            <a:endParaRPr lang="en-US" altLang="zh-CN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CN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匯出</a:t>
            </a:r>
            <a:r>
              <a:rPr lang="en-US" altLang="zh-CN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excel</a:t>
            </a:r>
          </a:p>
          <a:p>
            <a:pPr lvl="1"/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CN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Step6</a:t>
            </a:r>
            <a:r>
              <a:rPr lang="zh-CN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：微調</a:t>
            </a:r>
            <a:endParaRPr lang="en-US" altLang="zh-CN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CN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CN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問題：</a:t>
            </a:r>
            <a:endParaRPr lang="en-US" altLang="zh-CN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CN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博客來因為沒有</a:t>
            </a:r>
            <a:r>
              <a:rPr lang="en-US" altLang="zh-CN" sz="20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api</a:t>
            </a:r>
            <a:r>
              <a:rPr lang="zh-CN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，所以個別書的作者無法抓取。</a:t>
            </a:r>
            <a:endParaRPr lang="en-US" altLang="zh-CN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CN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博客來有些</a:t>
            </a:r>
            <a:r>
              <a:rPr lang="en-US" altLang="zh-CN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18+</a:t>
            </a:r>
            <a:r>
              <a:rPr lang="zh-CN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的書因為要登入所以抓不到資料（之後可以再調程式）。</a:t>
            </a:r>
            <a:endParaRPr lang="en-US" altLang="zh-CN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CN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博客來因為使用爬蟲所以抓取每筆資料的間隔時間必須放大（目前測試是要</a:t>
            </a:r>
            <a:r>
              <a:rPr lang="en-US" altLang="zh-CN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&gt;80</a:t>
            </a:r>
            <a:r>
              <a:rPr lang="zh-CN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秒，或許可以更短）。</a:t>
            </a:r>
            <a:endParaRPr lang="en-US" altLang="zh-CN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CN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個別書在交大以</a:t>
            </a:r>
            <a:r>
              <a:rPr lang="en-US" altLang="zh-CN" sz="20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api</a:t>
            </a:r>
            <a:r>
              <a:rPr lang="zh-CN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查詢的結果會與網頁查詢結果不一致？</a:t>
            </a:r>
            <a:endParaRPr lang="en-US" altLang="zh-CN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endParaRPr lang="en-US" altLang="zh-CN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8496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77D958-F877-4AE0-ACB9-A2D9632252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4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END</a:t>
            </a:r>
            <a:endParaRPr lang="zh-TW" altLang="en-US" sz="48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9FD6A402-9DE8-4873-82E0-503C3798B1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0869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342</Words>
  <Application>Microsoft Office PowerPoint</Application>
  <PresentationFormat>如螢幕大小 (4:3)</PresentationFormat>
  <Paragraphs>35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標楷體</vt:lpstr>
      <vt:lpstr>Arial</vt:lpstr>
      <vt:lpstr>Calibri</vt:lpstr>
      <vt:lpstr>Calibri Light</vt:lpstr>
      <vt:lpstr>Office 佈景主題</vt:lpstr>
      <vt:lpstr>開發撈每月誠品與博客來中文紙本圖書排行榜，並比對是否有館藏報告</vt:lpstr>
      <vt:lpstr>流程</vt:lpstr>
      <vt:lpstr>流程</vt:lpstr>
      <vt:lpstr>流程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開發撈每月誠品與博客來中文紙本圖書排行榜，並比對是否有館藏報告</dc:title>
  <dc:creator>柏凱 劉</dc:creator>
  <cp:lastModifiedBy>柏凱 劉</cp:lastModifiedBy>
  <cp:revision>25</cp:revision>
  <dcterms:created xsi:type="dcterms:W3CDTF">2026-03-10T08:22:44Z</dcterms:created>
  <dcterms:modified xsi:type="dcterms:W3CDTF">2026-03-10T08:45:11Z</dcterms:modified>
</cp:coreProperties>
</file>